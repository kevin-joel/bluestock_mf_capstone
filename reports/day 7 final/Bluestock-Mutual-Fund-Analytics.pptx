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5" r:id="rId15"/>
  </p:sldIdLst>
  <p:sldSz cx="9144000" cy="5143500"/>
  <p:notesSz cx="5143500" cy="9144000"/>
  <p:embeddedFontLst>
    <p:embeddedFont>
      <p:font typeface="Inter Bold" panose="02000503000000020004" pitchFamily="34" charset="0"/>
      <p:bold r:id="rId19"/>
    </p:embeddedFont>
    <p:embeddedFont>
      <p:font typeface="Inter Bold" panose="02000503000000020004" pitchFamily="34" charset="-122"/>
      <p:bold r:id="rId20"/>
    </p:embeddedFont>
    <p:embeddedFont>
      <p:font typeface="Inter Bold" panose="02000503000000020004" pitchFamily="34" charset="-120"/>
      <p:bold r:id="rId21"/>
    </p:embeddedFont>
    <p:embeddedFont>
      <p:font typeface="Inter" panose="02000503000000020004" pitchFamily="34" charset="0"/>
      <p:regular r:id="rId22"/>
    </p:embeddedFont>
    <p:embeddedFont>
      <p:font typeface="Inter" panose="02000503000000020004" pitchFamily="34" charset="-122"/>
      <p:regular r:id="rId23"/>
    </p:embeddedFont>
    <p:embeddedFont>
      <p:font typeface="Inter" panose="02000503000000020004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  <p:embeddedFont>
      <p:font typeface="Calibri Light" panose="020F0302020204030204" charset="0"/>
      <p:regular r:id="rId29"/>
      <p: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36588"/>
            <a:ext cx="4722763" cy="7750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Bluestock Mutual Fund Analytics Capstone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97721"/>
            <a:ext cx="4722763" cy="5364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End-to-End Mutual Fund Analytics | Final Presentation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Kevin Joel Velevela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| BCA – Data Science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273698"/>
            <a:ext cx="569788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6" name="Text 3"/>
          <p:cNvSpPr/>
          <p:nvPr/>
        </p:nvSpPr>
        <p:spPr>
          <a:xfrm>
            <a:off x="570533" y="3310905"/>
            <a:ext cx="878160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PYTHON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127894" y="3273698"/>
            <a:ext cx="344463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8" name="Text 5"/>
          <p:cNvSpPr/>
          <p:nvPr/>
        </p:nvSpPr>
        <p:spPr>
          <a:xfrm>
            <a:off x="1202308" y="3310905"/>
            <a:ext cx="652835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SQL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534344" y="3273698"/>
            <a:ext cx="628724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10" name="Text 7"/>
          <p:cNvSpPr/>
          <p:nvPr/>
        </p:nvSpPr>
        <p:spPr>
          <a:xfrm>
            <a:off x="1608758" y="3310905"/>
            <a:ext cx="937096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 BI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225055" y="3273698"/>
            <a:ext cx="548357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12" name="Text 9"/>
          <p:cNvSpPr/>
          <p:nvPr/>
        </p:nvSpPr>
        <p:spPr>
          <a:xfrm>
            <a:off x="2299469" y="3310905"/>
            <a:ext cx="856729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PANDAS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835399" y="3273698"/>
            <a:ext cx="522461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14" name="Text 11"/>
          <p:cNvSpPr/>
          <p:nvPr/>
        </p:nvSpPr>
        <p:spPr>
          <a:xfrm>
            <a:off x="2909813" y="3310905"/>
            <a:ext cx="830833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PLOTLY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26541"/>
            <a:ext cx="1116509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04295" y="468511"/>
            <a:ext cx="1415355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PROJECT CONTEXT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718840"/>
            <a:ext cx="3558332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Why This Project?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1292423"/>
            <a:ext cx="4722763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India's mutual fund industry manages over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₹50 trillion in AUM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yet investors lack accessible quantitative tools to objectively compare the 40+ available schemes. SIP discontinuity, B30 market gaps, and fragmented data remain largely unaddressed — creating a critical need for a unified analytics platform.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0831" y="2225799"/>
            <a:ext cx="4737050" cy="12269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06242" y="2364060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06242" y="2632323"/>
            <a:ext cx="4403378" cy="6821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₹50+ trillion AUM with limited retail analytics access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 objective framework to compare 40+ schemes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SIP discontinuity and B30 market gaps unaddressed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0831" y="3576712"/>
            <a:ext cx="4737050" cy="11401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06242" y="3714973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The Objective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106242" y="3983236"/>
            <a:ext cx="4403378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Build an end-to-end analytics platform covering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ETL, EDA, risk metrics, and BI dashboarding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— delivering actionable mutual fund intelligence for investors and analysts alike.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16037"/>
            <a:ext cx="706859" cy="173682"/>
          </a:xfrm>
          <a:prstGeom prst="roundRect">
            <a:avLst>
              <a:gd name="adj" fmla="val 1837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9025" y="349225"/>
            <a:ext cx="1040681" cy="107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5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827336" y="518740"/>
            <a:ext cx="4605635" cy="296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 Sources &amp; Project Architecture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7336" y="924520"/>
            <a:ext cx="7489254" cy="268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project integrates </a:t>
            </a:r>
            <a:r>
              <a:rPr lang="en-US" sz="7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10 structured datasets</a:t>
            </a: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— Fund Master, NAV History, AUM, SIP Inflows, Transactions, Portfolio Holdings, Benchmark Indices, and more — all validated against AMFI standards. Live NAV data is sourced via the </a:t>
            </a:r>
            <a:r>
              <a:rPr lang="en-US" sz="7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mfapi.in API</a:t>
            </a: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ensuring real-time accuracy throughout the pipeline.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217" y="1274490"/>
            <a:ext cx="7427491" cy="32029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7985" y="3870024"/>
            <a:ext cx="1685060" cy="210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Analytics Engine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57985" y="3128598"/>
            <a:ext cx="1685060" cy="210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57985" y="2394660"/>
            <a:ext cx="1685060" cy="210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ETL Pipeline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57985" y="1653234"/>
            <a:ext cx="1685060" cy="2106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Raw CSV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7336" y="4559201"/>
            <a:ext cx="7489254" cy="268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pipeline flows seamlessly from ingestion through transformation to visualisation, with a </a:t>
            </a:r>
            <a:r>
              <a:rPr lang="en-US" sz="7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star schema</a:t>
            </a: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in SQLite enabling efficient analytical queries across all fund schemes and investor segments.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0960"/>
            <a:ext cx="1661368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462930"/>
            <a:ext cx="1960215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EXPLORATORY DATA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13259"/>
            <a:ext cx="4068291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What the Data Revealed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10816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 EDA Findings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1747986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45" y="1744191"/>
            <a:ext cx="1698501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2023 Bull Market Rally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9145" y="2062014"/>
            <a:ext cx="3521571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Strong NAV growth observed across all equity schemes, reflecting favourable market conditions and investor confidence.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2909218"/>
            <a:ext cx="186035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9145" y="2905423"/>
            <a:ext cx="1774999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SBI MF Dominates AUM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99145" y="3223245"/>
            <a:ext cx="3521571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SBI Mutual Fund holds the highest total AUM across all fund houses, cementing its position as the industry leader.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3871987"/>
            <a:ext cx="186035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9145" y="3868192"/>
            <a:ext cx="165333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SIP Growth Trajectory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99145" y="4186014"/>
            <a:ext cx="3521571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Consistent upward SIP trend from 2022–2025, with a notable peak in H2 2024 driven by new investor cohorts.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728046" y="1410816"/>
            <a:ext cx="2396728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Top Fund Houses by AUM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1744191"/>
            <a:ext cx="3924598" cy="2824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881"/>
            <a:ext cx="1661368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469850"/>
            <a:ext cx="1960215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EXPLORATORY DATA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20179"/>
            <a:ext cx="4593431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Investor Behaviour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17737"/>
            <a:ext cx="269617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Transaction Type Distribution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51112"/>
            <a:ext cx="3924598" cy="28249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28046" y="1417737"/>
            <a:ext cx="2418159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What the Numbers Tell Us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8046" y="1751112"/>
            <a:ext cx="1900312" cy="1591419"/>
          </a:xfrm>
          <a:prstGeom prst="roundRect">
            <a:avLst>
              <a:gd name="adj" fmla="val 327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66308" y="1889373"/>
            <a:ext cx="1550566" cy="1986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👥</a:t>
            </a: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Demographics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66308" y="2211958"/>
            <a:ext cx="1623789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25–35 age group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forms the largest investor segment, reflecting growing financial literacy among millennials.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52332" y="1751112"/>
            <a:ext cx="1900312" cy="1591419"/>
          </a:xfrm>
          <a:prstGeom prst="roundRect">
            <a:avLst>
              <a:gd name="adj" fmla="val 327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90593" y="1889373"/>
            <a:ext cx="1550566" cy="1986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🗺️</a:t>
            </a: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Geography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90593" y="2211958"/>
            <a:ext cx="1623789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T30 cities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lead in volume, but B30 cities show accelerating growth — a key untapped market opportunity.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28046" y="3466505"/>
            <a:ext cx="3924598" cy="996032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6308" y="3604766"/>
            <a:ext cx="1550566" cy="1986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📂</a:t>
            </a: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Folio Expansion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66308" y="3927351"/>
            <a:ext cx="36480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Significant folio count expansion in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2023–2024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driven by new investor onboarding and digital channels.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03609"/>
            <a:ext cx="1241078" cy="191244"/>
          </a:xfrm>
          <a:prstGeom prst="roundRect">
            <a:avLst>
              <a:gd name="adj" fmla="val 18048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8020" y="339179"/>
            <a:ext cx="1565523" cy="120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60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PERFORMANCE ANALYTICS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21643" y="528861"/>
            <a:ext cx="5164187" cy="320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Quantitative Performance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21643" y="1062410"/>
            <a:ext cx="1741215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Metrics Computed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1643" y="1318617"/>
            <a:ext cx="1919957" cy="760809"/>
          </a:xfrm>
          <a:prstGeom prst="roundRect">
            <a:avLst>
              <a:gd name="adj" fmla="val 5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9096" y="1426071"/>
            <a:ext cx="1284015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CAGR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9096" y="1671638"/>
            <a:ext cx="1705049" cy="3003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Annualised returns over 1, 2, and 3-year horizons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26655" y="1318617"/>
            <a:ext cx="1919957" cy="760809"/>
          </a:xfrm>
          <a:prstGeom prst="roundRect">
            <a:avLst>
              <a:gd name="adj" fmla="val 5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4109" y="1426071"/>
            <a:ext cx="1284015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34109" y="1671638"/>
            <a:ext cx="1705049" cy="3003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Risk-adjusted returns using 6.5% risk-free rate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643" y="2164482"/>
            <a:ext cx="1919957" cy="760809"/>
          </a:xfrm>
          <a:prstGeom prst="roundRect">
            <a:avLst>
              <a:gd name="adj" fmla="val 5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096" y="2271936"/>
            <a:ext cx="1284015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Sortino Ratio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9096" y="2517502"/>
            <a:ext cx="1705049" cy="3003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Downside risk-adjusted performance measure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26655" y="2164482"/>
            <a:ext cx="1919957" cy="760809"/>
          </a:xfrm>
          <a:prstGeom prst="roundRect">
            <a:avLst>
              <a:gd name="adj" fmla="val 5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4109" y="2271936"/>
            <a:ext cx="1284015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Alpha &amp; Beta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4109" y="2517502"/>
            <a:ext cx="1705049" cy="3003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Relative performance vs NIFTY100 benchmark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1643" y="3010346"/>
            <a:ext cx="3924970" cy="610642"/>
          </a:xfrm>
          <a:prstGeom prst="roundRect">
            <a:avLst>
              <a:gd name="adj" fmla="val 706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096" y="3117800"/>
            <a:ext cx="1284015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Max Drawdown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096" y="3363367"/>
            <a:ext cx="3710062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Peak-to-trough decline for downside risk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2001" y="1062410"/>
            <a:ext cx="2359670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Composite Scorecard Weights</a:t>
            </a:r>
            <a:endParaRPr lang="en-US" sz="10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2001" y="1318617"/>
            <a:ext cx="3924970" cy="282520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702001" y="4239518"/>
            <a:ext cx="3924970" cy="504676"/>
          </a:xfrm>
          <a:prstGeom prst="roundRect">
            <a:avLst>
              <a:gd name="adj" fmla="val 8549"/>
            </a:avLst>
          </a:prstGeom>
          <a:solidFill>
            <a:srgbClr val="B6D6FC"/>
          </a:solidFill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693" y="4387528"/>
            <a:ext cx="128364" cy="10269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35748" y="4341688"/>
            <a:ext cx="3488531" cy="3003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All 40 schemes ranked on a unified </a:t>
            </a:r>
            <a:r>
              <a:rPr lang="en-US" sz="800" b="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0–100 composite score</a:t>
            </a:r>
            <a:r>
              <a:rPr lang="en-US" sz="8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enabling objective cross-category comparison.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93331" y="305321"/>
            <a:ext cx="1101626" cy="165199"/>
          </a:xfrm>
          <a:prstGeom prst="roundRect">
            <a:avLst>
              <a:gd name="adj" fmla="val 18528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52714" y="337393"/>
            <a:ext cx="1440061" cy="1010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5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PERFORMANCE ANALYTICS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793331" y="497235"/>
            <a:ext cx="2734568" cy="284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Top Fund Findings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3331" y="882179"/>
            <a:ext cx="227707" cy="2277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93331" y="1193453"/>
            <a:ext cx="1310878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Mid-Cap Alpha Leaders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3793331" y="1375842"/>
            <a:ext cx="4986338" cy="2527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Mid-cap funds generated the </a:t>
            </a:r>
            <a:r>
              <a:rPr lang="en-US" sz="7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highest Alpha vs NIFTY100</a:t>
            </a: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outperforming both large-cap and small-cap peers on a risk-adjusted basis.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3331" y="1762348"/>
            <a:ext cx="227707" cy="2277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93331" y="2073622"/>
            <a:ext cx="1138684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Small-Cap VaR Risk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3793331" y="2256011"/>
            <a:ext cx="4986338" cy="2527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Small-cap funds — notably </a:t>
            </a:r>
            <a:r>
              <a:rPr lang="en-US" sz="7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SBI, Axis, and ABSL</a:t>
            </a: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Small Cap — exhibited the highest Value-at-Risk, signalling elevated downside exposure.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3331" y="2642518"/>
            <a:ext cx="227707" cy="2277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93331" y="2953792"/>
            <a:ext cx="1138684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ARIMA Forecasting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3793331" y="3136181"/>
            <a:ext cx="4986338" cy="2527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ARIMA time-series models applied to top NAV histories, providing </a:t>
            </a:r>
            <a:r>
              <a:rPr lang="en-US" sz="7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forward-looking NAV projections</a:t>
            </a: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for investment planning.</a:t>
            </a:r>
            <a:endParaRPr lang="en-US" sz="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93331" y="3522687"/>
            <a:ext cx="227707" cy="22770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93331" y="3833961"/>
            <a:ext cx="1138684" cy="142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Tracking Error</a:t>
            </a:r>
            <a:endParaRPr lang="en-US" sz="850" dirty="0"/>
          </a:p>
        </p:txBody>
      </p:sp>
      <p:sp>
        <p:nvSpPr>
          <p:cNvPr id="17" name="Text 10"/>
          <p:cNvSpPr/>
          <p:nvPr/>
        </p:nvSpPr>
        <p:spPr>
          <a:xfrm>
            <a:off x="3793331" y="4016350"/>
            <a:ext cx="4986338" cy="2527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Tracking Error calculated against both </a:t>
            </a:r>
            <a:r>
              <a:rPr lang="en-US" sz="70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NIFTY50 and NIFTY100</a:t>
            </a:r>
            <a:r>
              <a:rPr lang="en-US" sz="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quantifying active management deviation for each scheme.</a:t>
            </a:r>
            <a:endParaRPr lang="en-US" sz="700" dirty="0"/>
          </a:p>
        </p:txBody>
      </p:sp>
      <p:sp>
        <p:nvSpPr>
          <p:cNvPr id="18" name="Shape 11"/>
          <p:cNvSpPr/>
          <p:nvPr/>
        </p:nvSpPr>
        <p:spPr>
          <a:xfrm>
            <a:off x="3793331" y="4344293"/>
            <a:ext cx="4986338" cy="418654"/>
          </a:xfrm>
          <a:prstGeom prst="roundRect">
            <a:avLst>
              <a:gd name="adj" fmla="val 9139"/>
            </a:avLst>
          </a:prstGeom>
          <a:solidFill>
            <a:srgbClr val="B6FCB8"/>
          </a:solidFill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4414" y="4464174"/>
            <a:ext cx="113854" cy="9108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089350" y="4427265"/>
            <a:ext cx="4599236" cy="2527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All 40 schemes ranked on a unified 0–100 composite scorecard</a:t>
            </a:r>
            <a:r>
              <a:rPr lang="en-US" sz="7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— enabling apples-to-apples comparison across categories, risk profiles, and fund houses.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9656"/>
            <a:ext cx="1291828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501625"/>
            <a:ext cx="1590675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ADVANCED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51954"/>
            <a:ext cx="4761458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Risk &amp; Behavioural Analytics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325538"/>
            <a:ext cx="4013895" cy="1617166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855" y="145427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1556519"/>
            <a:ext cx="167432" cy="167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4855" y="1950318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VaR &amp; CVaR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55" y="2218581"/>
            <a:ext cx="375642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Small-cap funds showed the most negative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95% VaR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with CVaR confirming severe tail-risk exposure during market stress periods.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33987" y="1325538"/>
            <a:ext cx="4013895" cy="1617166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62723" y="145427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556519"/>
            <a:ext cx="167432" cy="1674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2723" y="1950318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Rolling Sharpe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62723" y="2218581"/>
            <a:ext cx="375642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90-day rolling window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reveals distinct market cycle patterns, highlighting periods of superior and deteriorating risk-adjusted performance.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6119" y="3066678"/>
            <a:ext cx="4013895" cy="1617166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4855" y="319541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74" y="3297659"/>
            <a:ext cx="167432" cy="1674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4855" y="3691458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SIP Continuity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4855" y="3959721"/>
            <a:ext cx="375642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Only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2.20% of investors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maintain healthy SIP gaps — a critical retention challenge and major opportunity for nudging interventions.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33987" y="3066678"/>
            <a:ext cx="4013895" cy="1617166"/>
          </a:xfrm>
          <a:prstGeom prst="roundRect">
            <a:avLst>
              <a:gd name="adj" fmla="val 32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62723" y="319541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043" y="3297659"/>
            <a:ext cx="167432" cy="1674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62723" y="3691458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HHI Concentration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62723" y="3959721"/>
            <a:ext cx="375642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Axis Bluechip Fund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recorded the highest Herfindahl-Hirschman Index, indicating concentrated portfolio holdings and elevated idiosyncratic risk.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070521"/>
            <a:ext cx="1281336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04295" y="1112490"/>
            <a:ext cx="1580183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 BI DASHBOARD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362819"/>
            <a:ext cx="4172322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Interactive BI Dashboard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2060377"/>
            <a:ext cx="227044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Industry Overview Page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2378199"/>
            <a:ext cx="2210098" cy="11907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KPI cards displaying total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AUM, SIP Inflows, Active Schemes, and Fund Houses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alongside an AUM trend line and fund house comparison bar chart — providing instant industry-level context.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42546" y="2060377"/>
            <a:ext cx="2210098" cy="3876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Fund Performance &amp; Investor Analytics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2546" y="2572048"/>
            <a:ext cx="2210098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Multi-page dashboard featuring a </a:t>
            </a: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Risk vs Return scatter plot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NAV trend visualisations, state-wise transaction heat map, and age-group investment breakdowns — enabling drill-down analysis at scheme and investor level.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INDUSTRY 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" y="1780540"/>
            <a:ext cx="3957955" cy="23901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17220" y="8940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accent1">
                    <a:lumMod val="75000"/>
                  </a:schemeClr>
                </a:solidFill>
              </a:rPr>
              <a:t>INDUSTRY OVERVIEW</a:t>
            </a:r>
            <a:endParaRPr lang="en-I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 descr="FUND PERFORM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985" y="1788795"/>
            <a:ext cx="4026535" cy="234442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909820" y="8940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accent1">
                    <a:lumMod val="75000"/>
                  </a:schemeClr>
                </a:solidFill>
              </a:rPr>
              <a:t>FUND PERFORMANCE</a:t>
            </a:r>
            <a:endParaRPr lang="en-IN" altLang="en-US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INVESTOR ANALYTIC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65" y="1606550"/>
            <a:ext cx="3701415" cy="2665730"/>
          </a:xfrm>
          <a:prstGeom prst="rect">
            <a:avLst/>
          </a:prstGeom>
        </p:spPr>
      </p:pic>
      <p:pic>
        <p:nvPicPr>
          <p:cNvPr id="5" name="Picture 4" descr="SIP MARKET AND TREN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785" y="1607185"/>
            <a:ext cx="4192270" cy="26949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53365" y="8210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accent1">
                    <a:lumMod val="75000"/>
                  </a:schemeClr>
                </a:solidFill>
              </a:rPr>
              <a:t>INVESTOR ANALYTICS</a:t>
            </a:r>
            <a:endParaRPr lang="en-I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502785" y="8210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accent1">
                    <a:lumMod val="75000"/>
                  </a:schemeClr>
                </a:solidFill>
              </a:rPr>
              <a:t>SIP MARKET AND TRENDS</a:t>
            </a:r>
            <a:endParaRPr lang="en-IN" altLang="en-US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9873"/>
            <a:ext cx="888281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451842"/>
            <a:ext cx="1187128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02171"/>
            <a:ext cx="6624861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Insights,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99729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717551"/>
            <a:ext cx="3924598" cy="11658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SBI MF leads the industry in total AUM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SIP inflows peaked in H2 2024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Small-caps carry the highest downside risk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Only 2.20% SIP continuity rate observed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2024 cohort drove majority of investment volume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399729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1717551"/>
            <a:ext cx="3924598" cy="9239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Deploy SIP nudge campaigns to improve retention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Launch B30 digital-first onboarding strategy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composite scorecard for risk-aware fund selection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Diversify portfolios to reduce HHI concentration risk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3097262"/>
            <a:ext cx="8151763" cy="9302"/>
          </a:xfrm>
          <a:prstGeom prst="rect">
            <a:avLst/>
          </a:prstGeom>
          <a:solidFill>
            <a:srgbClr val="272525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96119" y="3323555"/>
            <a:ext cx="2938090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Thank You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96119" y="3819674"/>
            <a:ext cx="8151763" cy="5412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Kevin Joel Velevela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| BCA – Data Science | 202</a:t>
            </a:r>
            <a:r>
              <a:rPr lang="en-IN" alt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6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📧</a:t>
            </a: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</a:t>
            </a:r>
            <a:r>
              <a:rPr lang="en-US" sz="950" u="sng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velevelakevinjoel@gmail.com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4500414"/>
            <a:ext cx="569788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13" name="Text 11"/>
          <p:cNvSpPr/>
          <p:nvPr/>
        </p:nvSpPr>
        <p:spPr>
          <a:xfrm>
            <a:off x="570533" y="4537621"/>
            <a:ext cx="878160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PYTHON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27894" y="4500414"/>
            <a:ext cx="344463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15" name="Text 13"/>
          <p:cNvSpPr/>
          <p:nvPr/>
        </p:nvSpPr>
        <p:spPr>
          <a:xfrm>
            <a:off x="1202308" y="4537621"/>
            <a:ext cx="652835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SQL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534344" y="4500414"/>
            <a:ext cx="494705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17" name="Text 15"/>
          <p:cNvSpPr/>
          <p:nvPr/>
        </p:nvSpPr>
        <p:spPr>
          <a:xfrm>
            <a:off x="1608758" y="4537621"/>
            <a:ext cx="803077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SQLITE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91035" y="4500414"/>
            <a:ext cx="628724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19" name="Text 17"/>
          <p:cNvSpPr/>
          <p:nvPr/>
        </p:nvSpPr>
        <p:spPr>
          <a:xfrm>
            <a:off x="2165449" y="4537621"/>
            <a:ext cx="937096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 BI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81746" y="4500414"/>
            <a:ext cx="548357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21" name="Text 19"/>
          <p:cNvSpPr/>
          <p:nvPr/>
        </p:nvSpPr>
        <p:spPr>
          <a:xfrm>
            <a:off x="2856161" y="4537621"/>
            <a:ext cx="856729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PANDAS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392091" y="4500414"/>
            <a:ext cx="517699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23" name="Text 21"/>
          <p:cNvSpPr/>
          <p:nvPr/>
        </p:nvSpPr>
        <p:spPr>
          <a:xfrm>
            <a:off x="3466505" y="4537621"/>
            <a:ext cx="826071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NUMPY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971776" y="4500414"/>
            <a:ext cx="522461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25" name="Text 23"/>
          <p:cNvSpPr/>
          <p:nvPr/>
        </p:nvSpPr>
        <p:spPr>
          <a:xfrm>
            <a:off x="4046190" y="4537621"/>
            <a:ext cx="830833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PLOTLY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56224" y="4500414"/>
            <a:ext cx="763712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27" name="Text 25"/>
          <p:cNvSpPr/>
          <p:nvPr/>
        </p:nvSpPr>
        <p:spPr>
          <a:xfrm>
            <a:off x="4630638" y="4537621"/>
            <a:ext cx="1072083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MATPLOTLIB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81923" y="4500414"/>
            <a:ext cx="465832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29" name="Text 27"/>
          <p:cNvSpPr/>
          <p:nvPr/>
        </p:nvSpPr>
        <p:spPr>
          <a:xfrm>
            <a:off x="5456337" y="4537621"/>
            <a:ext cx="774204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ARIMA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09742" y="4500414"/>
            <a:ext cx="828898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</p:spPr>
      </p:sp>
      <p:sp>
        <p:nvSpPr>
          <p:cNvPr id="31" name="Text 29"/>
          <p:cNvSpPr/>
          <p:nvPr/>
        </p:nvSpPr>
        <p:spPr>
          <a:xfrm>
            <a:off x="5984156" y="4537621"/>
            <a:ext cx="1137270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SQLALCHEMY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5439</Words>
  <Application>WPS Presentation</Application>
  <PresentationFormat>On-screen Show (16:9)</PresentationFormat>
  <Paragraphs>223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Inter Bold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Kevin_ Joel</cp:lastModifiedBy>
  <cp:revision>2</cp:revision>
  <dcterms:created xsi:type="dcterms:W3CDTF">2026-06-11T08:53:00Z</dcterms:created>
  <dcterms:modified xsi:type="dcterms:W3CDTF">2026-06-11T09:00:42Z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7BEF7F9CAC86495BA03EA1BBC5C9F9FD_12</vt:lpwstr>
  </property>
</Properties>
</file>